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Clear Sans Bold" panose="020B0604020202020204" charset="0"/>
      <p:regular r:id="rId13"/>
    </p:embeddedFont>
    <p:embeddedFont>
      <p:font typeface="Consolas" panose="020B0609020204030204" pitchFamily="49" charset="0"/>
      <p:regular r:id="rId14"/>
      <p:bold r:id="rId15"/>
      <p:italic r:id="rId16"/>
      <p:boldItalic r:id="rId17"/>
    </p:embeddedFont>
    <p:embeddedFont>
      <p:font typeface="Corben" panose="020B0604020202020204" charset="0"/>
      <p:regular r:id="rId18"/>
    </p:embeddedFont>
    <p:embeddedFont>
      <p:font typeface="Nobile" panose="020B0604020202020204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3" d="100"/>
          <a:sy n="53" d="100"/>
        </p:scale>
        <p:origin x="66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83099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24064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 userDrawn="1"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89" y="246873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ChronosLocker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89" y="3510312"/>
            <a:ext cx="95988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Secure Digital Evidence Management System</a:t>
            </a:r>
            <a:endParaRPr lang="en-US" sz="3550" dirty="0"/>
          </a:p>
        </p:txBody>
      </p:sp>
      <p:sp>
        <p:nvSpPr>
          <p:cNvPr id="4" name="Text 2"/>
          <p:cNvSpPr/>
          <p:nvPr/>
        </p:nvSpPr>
        <p:spPr>
          <a:xfrm>
            <a:off x="793789" y="443580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Ensuring Integrity and Trust in Digital Forensics</a:t>
            </a:r>
            <a:endParaRPr lang="en-US" sz="175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481980-FE1C-2C86-8AEE-93DA17564F20}"/>
              </a:ext>
            </a:extLst>
          </p:cNvPr>
          <p:cNvSpPr txBox="1"/>
          <p:nvPr/>
        </p:nvSpPr>
        <p:spPr>
          <a:xfrm>
            <a:off x="8530390" y="4798703"/>
            <a:ext cx="8518653" cy="30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73"/>
              </a:lnSpc>
            </a:pPr>
            <a:r>
              <a:rPr lang="en-US" sz="1600" b="1" dirty="0">
                <a:solidFill>
                  <a:srgbClr val="394867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TEAM MEMBERS</a:t>
            </a:r>
          </a:p>
          <a:p>
            <a:pPr marL="557574" lvl="1" indent="-278787" algn="l">
              <a:lnSpc>
                <a:spcPts val="3873"/>
              </a:lnSpc>
              <a:buFont typeface="Arial"/>
              <a:buChar char="•"/>
            </a:pPr>
            <a:r>
              <a:rPr lang="en-US" sz="1600" b="1" dirty="0" err="1">
                <a:solidFill>
                  <a:srgbClr val="394867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Thrishwant</a:t>
            </a:r>
            <a:r>
              <a:rPr lang="en-US" sz="1600" b="1" dirty="0">
                <a:solidFill>
                  <a:srgbClr val="394867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 G-CB.SC.U4CYS24152</a:t>
            </a:r>
          </a:p>
          <a:p>
            <a:pPr marL="557574" lvl="1" indent="-278787" algn="l">
              <a:lnSpc>
                <a:spcPts val="3873"/>
              </a:lnSpc>
              <a:buFont typeface="Arial"/>
              <a:buChar char="•"/>
            </a:pPr>
            <a:r>
              <a:rPr lang="en-US" sz="1600" b="1" dirty="0">
                <a:solidFill>
                  <a:srgbClr val="394867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Karnasula Jaya Sai Venkatesh-CB.SC.U4CYS24125</a:t>
            </a:r>
          </a:p>
          <a:p>
            <a:pPr marL="557574" lvl="1" indent="-278787" algn="l">
              <a:lnSpc>
                <a:spcPts val="3873"/>
              </a:lnSpc>
              <a:buFont typeface="Arial"/>
              <a:buChar char="•"/>
            </a:pPr>
            <a:r>
              <a:rPr lang="en-US" sz="1600" b="1" dirty="0">
                <a:solidFill>
                  <a:srgbClr val="394867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Hithesh Y-CB.SC.U4CYS24121</a:t>
            </a:r>
          </a:p>
          <a:p>
            <a:pPr marL="557574" lvl="1" indent="-278787" algn="l">
              <a:lnSpc>
                <a:spcPts val="3873"/>
              </a:lnSpc>
              <a:buFont typeface="Arial"/>
              <a:buChar char="•"/>
            </a:pPr>
            <a:r>
              <a:rPr lang="en-US" sz="1600" b="1" dirty="0">
                <a:solidFill>
                  <a:srgbClr val="394867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Nivriti S-CB.SC.U4CYS24135</a:t>
            </a:r>
          </a:p>
          <a:p>
            <a:pPr marL="557574" lvl="1" indent="-278787" algn="l">
              <a:lnSpc>
                <a:spcPts val="3873"/>
              </a:lnSpc>
              <a:buFont typeface="Arial"/>
              <a:buChar char="•"/>
            </a:pPr>
            <a:r>
              <a:rPr lang="en-US" sz="1600" b="1" dirty="0">
                <a:solidFill>
                  <a:srgbClr val="394867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Sathya Prathmesh K J-CB.SC.U4CYS24149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0792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Problem Statement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670334"/>
            <a:ext cx="6407944" cy="1730812"/>
          </a:xfrm>
          <a:prstGeom prst="roundRect">
            <a:avLst>
              <a:gd name="adj" fmla="val 8453"/>
            </a:avLst>
          </a:prstGeom>
          <a:solidFill>
            <a:srgbClr val="F9F9FF">
              <a:alpha val="95000"/>
            </a:srgbClr>
          </a:solidFill>
          <a:ln w="30480">
            <a:solidFill>
              <a:srgbClr val="B8BFD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3310" y="2670334"/>
            <a:ext cx="121920" cy="1730812"/>
          </a:xfrm>
          <a:prstGeom prst="roundRect">
            <a:avLst>
              <a:gd name="adj" fmla="val 78139"/>
            </a:avLst>
          </a:prstGeom>
          <a:solidFill>
            <a:srgbClr val="4967E9"/>
          </a:solidFill>
          <a:ln/>
        </p:spPr>
      </p:sp>
      <p:sp>
        <p:nvSpPr>
          <p:cNvPr id="5" name="Text 3"/>
          <p:cNvSpPr/>
          <p:nvPr/>
        </p:nvSpPr>
        <p:spPr>
          <a:xfrm>
            <a:off x="1142524" y="292762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Evidence Tampering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42524" y="3418046"/>
            <a:ext cx="58019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Digital evidence can be altered or modified without detection, compromising investigation integrity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428548" y="2670334"/>
            <a:ext cx="6408063" cy="1730812"/>
          </a:xfrm>
          <a:prstGeom prst="roundRect">
            <a:avLst>
              <a:gd name="adj" fmla="val 8453"/>
            </a:avLst>
          </a:prstGeom>
          <a:solidFill>
            <a:srgbClr val="F9F9FF">
              <a:alpha val="95000"/>
            </a:srgbClr>
          </a:solidFill>
          <a:ln w="30480">
            <a:solidFill>
              <a:srgbClr val="B8BFD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98067" y="2670334"/>
            <a:ext cx="121920" cy="1730812"/>
          </a:xfrm>
          <a:prstGeom prst="roundRect">
            <a:avLst>
              <a:gd name="adj" fmla="val 78139"/>
            </a:avLst>
          </a:prstGeom>
          <a:solidFill>
            <a:srgbClr val="4967E9"/>
          </a:solidFill>
          <a:ln/>
        </p:spPr>
      </p:sp>
      <p:sp>
        <p:nvSpPr>
          <p:cNvPr id="9" name="Text 7"/>
          <p:cNvSpPr/>
          <p:nvPr/>
        </p:nvSpPr>
        <p:spPr>
          <a:xfrm>
            <a:off x="7777282" y="292762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Chain of Custody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777282" y="3418046"/>
            <a:ext cx="58020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Maintaining verifiable custody records is difficult across multiple investigators and systems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793790" y="4627959"/>
            <a:ext cx="6407944" cy="2093714"/>
          </a:xfrm>
          <a:prstGeom prst="roundRect">
            <a:avLst>
              <a:gd name="adj" fmla="val 6988"/>
            </a:avLst>
          </a:prstGeom>
          <a:solidFill>
            <a:srgbClr val="F9F9FF">
              <a:alpha val="95000"/>
            </a:srgbClr>
          </a:solidFill>
          <a:ln w="30480">
            <a:solidFill>
              <a:srgbClr val="B8BFD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3310" y="4627959"/>
            <a:ext cx="121920" cy="2093714"/>
          </a:xfrm>
          <a:prstGeom prst="roundRect">
            <a:avLst>
              <a:gd name="adj" fmla="val 78139"/>
            </a:avLst>
          </a:prstGeom>
          <a:solidFill>
            <a:srgbClr val="4967E9"/>
          </a:solidFill>
          <a:ln/>
        </p:spPr>
      </p:sp>
      <p:sp>
        <p:nvSpPr>
          <p:cNvPr id="13" name="Text 11"/>
          <p:cNvSpPr/>
          <p:nvPr/>
        </p:nvSpPr>
        <p:spPr>
          <a:xfrm>
            <a:off x="1142524" y="488525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Integrity Verification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142524" y="5375672"/>
            <a:ext cx="58019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Investigators require cryptographic proof that evidence remains unmodified from collection to presentation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428548" y="4627959"/>
            <a:ext cx="6408063" cy="2093714"/>
          </a:xfrm>
          <a:prstGeom prst="roundRect">
            <a:avLst>
              <a:gd name="adj" fmla="val 6988"/>
            </a:avLst>
          </a:prstGeom>
          <a:solidFill>
            <a:srgbClr val="F9F9FF">
              <a:alpha val="95000"/>
            </a:srgbClr>
          </a:solidFill>
          <a:ln w="30480">
            <a:solidFill>
              <a:srgbClr val="B8BFD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98067" y="4627959"/>
            <a:ext cx="121920" cy="2093714"/>
          </a:xfrm>
          <a:prstGeom prst="roundRect">
            <a:avLst>
              <a:gd name="adj" fmla="val 78139"/>
            </a:avLst>
          </a:prstGeom>
          <a:solidFill>
            <a:srgbClr val="4967E9"/>
          </a:solidFill>
          <a:ln/>
        </p:spPr>
      </p:sp>
      <p:sp>
        <p:nvSpPr>
          <p:cNvPr id="17" name="Text 15"/>
          <p:cNvSpPr/>
          <p:nvPr/>
        </p:nvSpPr>
        <p:spPr>
          <a:xfrm>
            <a:off x="7777282" y="488525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Transparent Systems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777282" y="5375672"/>
            <a:ext cx="58020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Existing evidence management systems lack transparent, verifiable verification mechanisms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2784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Project Objective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1990249"/>
            <a:ext cx="6407944" cy="2592348"/>
          </a:xfrm>
          <a:prstGeom prst="roundRect">
            <a:avLst>
              <a:gd name="adj" fmla="val 3675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8224" y="2224683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4967E9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15390" y="2411730"/>
            <a:ext cx="306110" cy="3061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8224" y="313193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Secure Storage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28224" y="3622358"/>
            <a:ext cx="59390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Build a secure digital evidence storage system with tamper-proof integrity guarantees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7428548" y="1990249"/>
            <a:ext cx="6408063" cy="2592348"/>
          </a:xfrm>
          <a:prstGeom prst="roundRect">
            <a:avLst>
              <a:gd name="adj" fmla="val 3675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662982" y="2224683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4967E9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50148" y="2411730"/>
            <a:ext cx="306110" cy="30611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62982" y="313193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Hash Detection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7662982" y="3622358"/>
            <a:ext cx="59391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Detect tampering using cryptographic hash functions and hash chain verification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793790" y="4809411"/>
            <a:ext cx="6407944" cy="2592348"/>
          </a:xfrm>
          <a:prstGeom prst="roundRect">
            <a:avLst>
              <a:gd name="adj" fmla="val 3675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1028224" y="5043845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4967E9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15390" y="5230892"/>
            <a:ext cx="306110" cy="30611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28224" y="5951101"/>
            <a:ext cx="290345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Transparent Tracking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1028224" y="6441519"/>
            <a:ext cx="59390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Provide transparent, auditable evidence tracking from collection to courtroom</a:t>
            </a:r>
            <a:endParaRPr lang="en-US" sz="1750" dirty="0"/>
          </a:p>
        </p:txBody>
      </p:sp>
      <p:sp>
        <p:nvSpPr>
          <p:cNvPr id="18" name="Shape 13"/>
          <p:cNvSpPr/>
          <p:nvPr/>
        </p:nvSpPr>
        <p:spPr>
          <a:xfrm>
            <a:off x="7428548" y="4809411"/>
            <a:ext cx="6408063" cy="2592348"/>
          </a:xfrm>
          <a:prstGeom prst="roundRect">
            <a:avLst>
              <a:gd name="adj" fmla="val 3675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662982" y="5043845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4967E9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850148" y="5230892"/>
            <a:ext cx="306110" cy="30611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662982" y="5951101"/>
            <a:ext cx="301525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Trustworthy Forensics</a:t>
            </a:r>
            <a:endParaRPr lang="en-US" sz="2200" dirty="0"/>
          </a:p>
        </p:txBody>
      </p:sp>
      <p:sp>
        <p:nvSpPr>
          <p:cNvPr id="22" name="Text 16"/>
          <p:cNvSpPr/>
          <p:nvPr/>
        </p:nvSpPr>
        <p:spPr>
          <a:xfrm>
            <a:off x="7662982" y="6441519"/>
            <a:ext cx="59391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Ensure trustworthy forensic investigations through verifiable integrity checks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94554" y="510540"/>
            <a:ext cx="4435197" cy="554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4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System Architecture</a:t>
            </a:r>
            <a:endParaRPr lang="en-US" sz="3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4637" y="1342311"/>
            <a:ext cx="10920889" cy="59676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294706" y="3966368"/>
            <a:ext cx="2530475" cy="688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1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Investigator Upload (REST API)</a:t>
            </a:r>
            <a:endParaRPr lang="en-US" sz="2150" dirty="0"/>
          </a:p>
        </p:txBody>
      </p:sp>
      <p:sp>
        <p:nvSpPr>
          <p:cNvPr id="5" name="Text 2"/>
          <p:cNvSpPr/>
          <p:nvPr/>
        </p:nvSpPr>
        <p:spPr>
          <a:xfrm>
            <a:off x="9684586" y="3927541"/>
            <a:ext cx="2530474" cy="688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1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C++ Backend (Crow)</a:t>
            </a: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6563092" y="3939973"/>
            <a:ext cx="2530475" cy="688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1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SQLite Storage &amp; Dashboard</a:t>
            </a:r>
            <a:endParaRPr lang="en-US" sz="2150" dirty="0"/>
          </a:p>
        </p:txBody>
      </p:sp>
      <p:sp>
        <p:nvSpPr>
          <p:cNvPr id="7" name="Text 4"/>
          <p:cNvSpPr/>
          <p:nvPr/>
        </p:nvSpPr>
        <p:spPr>
          <a:xfrm>
            <a:off x="1194554" y="7466052"/>
            <a:ext cx="12241173" cy="2528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 system follows a layered architecture with clear separation between presentation, application logic, and data storage layers.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7663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Core Components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179201"/>
            <a:ext cx="6407944" cy="2403396"/>
          </a:xfrm>
          <a:prstGeom prst="roundRect">
            <a:avLst>
              <a:gd name="adj" fmla="val 6087"/>
            </a:avLst>
          </a:prstGeom>
          <a:solidFill>
            <a:srgbClr val="F9F9FF">
              <a:alpha val="9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93790" y="2148721"/>
            <a:ext cx="6407944" cy="121920"/>
          </a:xfrm>
          <a:prstGeom prst="roundRect">
            <a:avLst>
              <a:gd name="adj" fmla="val 78139"/>
            </a:avLst>
          </a:prstGeom>
          <a:solidFill>
            <a:srgbClr val="4967E9"/>
          </a:solidFill>
          <a:ln/>
        </p:spPr>
      </p:sp>
      <p:sp>
        <p:nvSpPr>
          <p:cNvPr id="5" name="Shape 3"/>
          <p:cNvSpPr/>
          <p:nvPr/>
        </p:nvSpPr>
        <p:spPr>
          <a:xfrm>
            <a:off x="3657540" y="1839039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4967E9"/>
          </a:solidFill>
          <a:ln/>
        </p:spPr>
      </p:sp>
      <p:sp>
        <p:nvSpPr>
          <p:cNvPr id="6" name="Text 4"/>
          <p:cNvSpPr/>
          <p:nvPr/>
        </p:nvSpPr>
        <p:spPr>
          <a:xfrm>
            <a:off x="3861614" y="2009180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1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051084" y="274617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C++ Backend Server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51084" y="3236595"/>
            <a:ext cx="589335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High-performance server implementation using Crow framework for handling concurrent evidence submissions and hash calculations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428548" y="2179201"/>
            <a:ext cx="6408063" cy="2403396"/>
          </a:xfrm>
          <a:prstGeom prst="roundRect">
            <a:avLst>
              <a:gd name="adj" fmla="val 6087"/>
            </a:avLst>
          </a:prstGeom>
          <a:solidFill>
            <a:srgbClr val="F9F9FF">
              <a:alpha val="9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428548" y="2148721"/>
            <a:ext cx="6408063" cy="121920"/>
          </a:xfrm>
          <a:prstGeom prst="roundRect">
            <a:avLst>
              <a:gd name="adj" fmla="val 78139"/>
            </a:avLst>
          </a:prstGeom>
          <a:solidFill>
            <a:srgbClr val="4967E9"/>
          </a:solidFill>
          <a:ln/>
        </p:spPr>
      </p:sp>
      <p:sp>
        <p:nvSpPr>
          <p:cNvPr id="11" name="Shape 9"/>
          <p:cNvSpPr/>
          <p:nvPr/>
        </p:nvSpPr>
        <p:spPr>
          <a:xfrm>
            <a:off x="10292298" y="1839039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4967E9"/>
          </a:solidFill>
          <a:ln/>
        </p:spPr>
      </p:sp>
      <p:sp>
        <p:nvSpPr>
          <p:cNvPr id="12" name="Text 10"/>
          <p:cNvSpPr/>
          <p:nvPr/>
        </p:nvSpPr>
        <p:spPr>
          <a:xfrm>
            <a:off x="10496371" y="2009180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2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7685842" y="274617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SQLite Database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685842" y="3236595"/>
            <a:ext cx="589347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chronos.db file stores evidence metadata, cryptographic hashes, timestamps, and investigator credentials securely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4224576" y="5022909"/>
            <a:ext cx="6407944" cy="121920"/>
          </a:xfrm>
          <a:prstGeom prst="roundRect">
            <a:avLst>
              <a:gd name="adj" fmla="val 78139"/>
            </a:avLst>
          </a:prstGeom>
          <a:solidFill>
            <a:srgbClr val="4967E9"/>
          </a:solidFill>
          <a:ln/>
        </p:spPr>
      </p:sp>
      <p:sp>
        <p:nvSpPr>
          <p:cNvPr id="17" name="Shape 15"/>
          <p:cNvSpPr/>
          <p:nvPr/>
        </p:nvSpPr>
        <p:spPr>
          <a:xfrm>
            <a:off x="6750994" y="4657606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4967E9"/>
          </a:solidFill>
          <a:ln/>
        </p:spPr>
      </p:sp>
      <p:sp>
        <p:nvSpPr>
          <p:cNvPr id="18" name="Text 16"/>
          <p:cNvSpPr/>
          <p:nvPr/>
        </p:nvSpPr>
        <p:spPr>
          <a:xfrm>
            <a:off x="6997571" y="4804667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3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4224396" y="5537955"/>
            <a:ext cx="6408063" cy="2403396"/>
          </a:xfrm>
          <a:prstGeom prst="roundRect">
            <a:avLst>
              <a:gd name="adj" fmla="val 6087"/>
            </a:avLst>
          </a:prstGeom>
          <a:solidFill>
            <a:srgbClr val="F9F9FF">
              <a:alpha val="95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10496371" y="4979551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4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6010809" y="57165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Web Dashboard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4602896" y="6390561"/>
            <a:ext cx="589347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index.html provides intuitive interface for investigators to view evidence records and verify system integrity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8674" y="522327"/>
            <a:ext cx="6746438" cy="588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Evidence Integrity Mechanism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252" y="1423273"/>
            <a:ext cx="12885777" cy="55566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39328" y="5926172"/>
            <a:ext cx="2923350" cy="36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Root Hash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1739328" y="4639898"/>
            <a:ext cx="2923350" cy="36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SHA-256 Hash 2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1739328" y="3366616"/>
            <a:ext cx="2923350" cy="36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SHA-256 Hash 1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1739328" y="2080342"/>
            <a:ext cx="2923350" cy="36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Original File</a:t>
            </a:r>
            <a:endParaRPr lang="en-US" sz="2300" dirty="0"/>
          </a:p>
        </p:txBody>
      </p:sp>
      <p:sp>
        <p:nvSpPr>
          <p:cNvPr id="8" name="Text 5"/>
          <p:cNvSpPr/>
          <p:nvPr/>
        </p:nvSpPr>
        <p:spPr>
          <a:xfrm>
            <a:off x="818674" y="7155775"/>
            <a:ext cx="12992933" cy="551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Each evidence file generates a unique cryptographic hash using SHA-256. These individual hashes chain together to create a Merkle tree structure, culminating in a single Root Hash that represents the complete integrity state of the entire evidence collection.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8674" y="522327"/>
            <a:ext cx="4707493" cy="588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System Workflow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252" y="1423273"/>
            <a:ext cx="12885777" cy="55566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39328" y="5926172"/>
            <a:ext cx="2923350" cy="36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Update Root Hash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1739328" y="4639898"/>
            <a:ext cx="2923350" cy="36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Store in DB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1739328" y="3366616"/>
            <a:ext cx="2923350" cy="36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Generate Hash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1739328" y="2080342"/>
            <a:ext cx="2923350" cy="36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Upload Evidence</a:t>
            </a:r>
            <a:endParaRPr lang="en-US" sz="2300" dirty="0"/>
          </a:p>
        </p:txBody>
      </p:sp>
      <p:sp>
        <p:nvSpPr>
          <p:cNvPr id="8" name="Text 5"/>
          <p:cNvSpPr/>
          <p:nvPr/>
        </p:nvSpPr>
        <p:spPr>
          <a:xfrm>
            <a:off x="818674" y="7155775"/>
            <a:ext cx="12992933" cy="551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 workflow ensures every piece of evidence undergoes cryptographic verification before storage. The Root Hash updates automatically with each new submission, maintaining real-time integrity tracking across the entire evidence repository.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9620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Threat Model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158609"/>
            <a:ext cx="4196358" cy="1730812"/>
          </a:xfrm>
          <a:prstGeom prst="roundRect">
            <a:avLst>
              <a:gd name="adj" fmla="val 5504"/>
            </a:avLst>
          </a:prstGeom>
          <a:solidFill>
            <a:srgbClr val="F9F9FF">
              <a:alpha val="95000"/>
            </a:srgbClr>
          </a:solidFill>
          <a:ln w="30480">
            <a:solidFill>
              <a:srgbClr val="B8BFD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1084" y="34159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Evidence Tampering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51084" y="3906322"/>
            <a:ext cx="36817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Unauthorized modification of evidence files after collection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5216962" y="3158609"/>
            <a:ext cx="4196358" cy="1730812"/>
          </a:xfrm>
          <a:prstGeom prst="roundRect">
            <a:avLst>
              <a:gd name="adj" fmla="val 5504"/>
            </a:avLst>
          </a:prstGeom>
          <a:solidFill>
            <a:srgbClr val="F9F9FF">
              <a:alpha val="95000"/>
            </a:srgbClr>
          </a:solidFill>
          <a:ln w="30480">
            <a:solidFill>
              <a:srgbClr val="B8BF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74256" y="34159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Integrity Attacks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74256" y="3906322"/>
            <a:ext cx="36817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Attempts to bypass or disable hash verification mechanisms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9640133" y="3158609"/>
            <a:ext cx="4196358" cy="1730812"/>
          </a:xfrm>
          <a:prstGeom prst="roundRect">
            <a:avLst>
              <a:gd name="adj" fmla="val 5504"/>
            </a:avLst>
          </a:prstGeom>
          <a:solidFill>
            <a:srgbClr val="F9F9FF">
              <a:alpha val="95000"/>
            </a:srgbClr>
          </a:solidFill>
          <a:ln w="30480">
            <a:solidFill>
              <a:srgbClr val="B8BFD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97427" y="34159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Data Manipulation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897427" y="3906322"/>
            <a:ext cx="36817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Altering database records or hash values to conceal modifications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93790" y="5144572"/>
            <a:ext cx="130428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Detection Mechanism:</a:t>
            </a: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Any modification to evidence triggers hash mismatch during verification. The Root Hash becomes invalid, immediately alerting investigators to potential tampering. Hash chaining ensures even single-file changes propagate through the entire integrity tree.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0262" y="326588"/>
            <a:ext cx="3254335" cy="374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8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System Demonstration</a:t>
            </a:r>
            <a:endParaRPr lang="en-US" sz="2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262" y="898266"/>
            <a:ext cx="5511186" cy="26542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0262" y="3865244"/>
            <a:ext cx="4329827" cy="124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1)Compiling and launching the </a:t>
            </a:r>
            <a:r>
              <a:rPr lang="en-US" sz="1200" dirty="0">
                <a:solidFill>
                  <a:srgbClr val="404155"/>
                </a:solidFill>
                <a:highlight>
                  <a:srgbClr val="ECEC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chronos_server</a:t>
            </a: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using CMake and executing the binary.</a:t>
            </a:r>
            <a:endParaRPr lang="en-US" sz="12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173" y="4350782"/>
            <a:ext cx="4314587" cy="1437680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47896" y="3700754"/>
            <a:ext cx="4314587" cy="143768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8579221" y="7451583"/>
            <a:ext cx="5980513" cy="234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5)</a:t>
            </a:r>
            <a:r>
              <a:rPr lang="en-US" sz="1200" dirty="0" err="1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ChronosLocker</a:t>
            </a: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Dashboard – Central Management Console for integrity auditing</a:t>
            </a:r>
          </a:p>
          <a:p>
            <a:pPr marL="0" indent="0" algn="l">
              <a:lnSpc>
                <a:spcPts val="900"/>
              </a:lnSpc>
              <a:buNone/>
            </a:pPr>
            <a:endParaRPr lang="en-US" sz="1200" dirty="0">
              <a:solidFill>
                <a:srgbClr val="404155"/>
              </a:solidFill>
              <a:latin typeface="Nobile" pitchFamily="34" charset="0"/>
              <a:ea typeface="Nobile" pitchFamily="34" charset="-122"/>
              <a:cs typeface="Nobile" pitchFamily="34" charset="-120"/>
            </a:endParaRPr>
          </a:p>
          <a:p>
            <a:pPr marL="0" indent="0" algn="l">
              <a:lnSpc>
                <a:spcPts val="9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and version control and Executing a SQL UPDATE statement to tamper with data </a:t>
            </a:r>
          </a:p>
          <a:p>
            <a:pPr marL="0" indent="0" algn="l">
              <a:lnSpc>
                <a:spcPts val="900"/>
              </a:lnSpc>
              <a:buNone/>
            </a:pPr>
            <a:endParaRPr lang="en-US" sz="1200" dirty="0">
              <a:solidFill>
                <a:srgbClr val="404155"/>
              </a:solidFill>
              <a:latin typeface="Nobile" pitchFamily="34" charset="0"/>
              <a:ea typeface="Nobile" pitchFamily="34" charset="-122"/>
              <a:cs typeface="Nobile" pitchFamily="34" charset="-120"/>
            </a:endParaRPr>
          </a:p>
          <a:p>
            <a:pPr marL="0" indent="0" algn="l">
              <a:lnSpc>
                <a:spcPts val="9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nodes within chronos.db</a:t>
            </a:r>
            <a:endParaRPr lang="en-US" sz="120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2644" y="6149222"/>
            <a:ext cx="3008590" cy="1039178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3439020" y="7685898"/>
            <a:ext cx="3644979" cy="117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2)Data is entered</a:t>
            </a:r>
            <a:endParaRPr lang="en-US" sz="1200" dirty="0"/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57356" y="314093"/>
            <a:ext cx="3644979" cy="3238381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10718426" y="1136458"/>
            <a:ext cx="2781142" cy="1012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3)Merkle Tree Data Structure</a:t>
            </a:r>
          </a:p>
          <a:p>
            <a:pPr marL="0" indent="0" algn="l">
              <a:lnSpc>
                <a:spcPts val="900"/>
              </a:lnSpc>
              <a:buNone/>
            </a:pPr>
            <a:endParaRPr lang="en-US" sz="1200" dirty="0">
              <a:solidFill>
                <a:srgbClr val="404155"/>
              </a:solidFill>
              <a:latin typeface="Nobile" pitchFamily="34" charset="0"/>
              <a:ea typeface="Nobile" pitchFamily="34" charset="-122"/>
              <a:cs typeface="Nobile" pitchFamily="34" charset="-120"/>
            </a:endParaRPr>
          </a:p>
          <a:p>
            <a:pPr marL="0" indent="0" algn="l">
              <a:lnSpc>
                <a:spcPts val="9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Visualization showing the </a:t>
            </a:r>
          </a:p>
          <a:p>
            <a:pPr marL="0" indent="0" algn="l">
              <a:lnSpc>
                <a:spcPts val="900"/>
              </a:lnSpc>
              <a:buNone/>
            </a:pPr>
            <a:endParaRPr lang="en-US" sz="1200" dirty="0">
              <a:solidFill>
                <a:srgbClr val="404155"/>
              </a:solidFill>
              <a:latin typeface="Nobile" pitchFamily="34" charset="0"/>
              <a:ea typeface="Nobile" pitchFamily="34" charset="-122"/>
              <a:cs typeface="Nobile" pitchFamily="34" charset="-120"/>
            </a:endParaRPr>
          </a:p>
          <a:p>
            <a:pPr marL="0" indent="0" algn="l">
              <a:lnSpc>
                <a:spcPts val="9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relationship between Root and Data </a:t>
            </a:r>
          </a:p>
          <a:p>
            <a:pPr marL="0" indent="0" algn="l">
              <a:lnSpc>
                <a:spcPts val="900"/>
              </a:lnSpc>
              <a:buNone/>
            </a:pPr>
            <a:endParaRPr lang="en-US" sz="1200" dirty="0">
              <a:solidFill>
                <a:srgbClr val="404155"/>
              </a:solidFill>
              <a:latin typeface="Nobile" pitchFamily="34" charset="0"/>
              <a:ea typeface="Nobile" pitchFamily="34" charset="-122"/>
              <a:cs typeface="Nobile" pitchFamily="34" charset="-120"/>
            </a:endParaRPr>
          </a:p>
          <a:p>
            <a:pPr marL="0" indent="0" algn="l">
              <a:lnSpc>
                <a:spcPts val="9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nodes.</a:t>
            </a:r>
            <a:endParaRPr lang="en-US" sz="1200" dirty="0"/>
          </a:p>
        </p:txBody>
      </p:sp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20720" y="5364416"/>
            <a:ext cx="3644979" cy="1861185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11048451" y="3106137"/>
            <a:ext cx="3644979" cy="664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4)Real-time detection of Node tampering within</a:t>
            </a:r>
          </a:p>
          <a:p>
            <a:pPr marL="0" indent="0" algn="l">
              <a:lnSpc>
                <a:spcPts val="900"/>
              </a:lnSpc>
              <a:buNone/>
            </a:pPr>
            <a:endParaRPr lang="en-US" sz="1200" dirty="0">
              <a:solidFill>
                <a:srgbClr val="404155"/>
              </a:solidFill>
              <a:latin typeface="Nobile" pitchFamily="34" charset="0"/>
              <a:ea typeface="Nobile" pitchFamily="34" charset="-122"/>
              <a:cs typeface="Nobile" pitchFamily="34" charset="-120"/>
            </a:endParaRPr>
          </a:p>
          <a:p>
            <a:pPr marL="0" indent="0" algn="l">
              <a:lnSpc>
                <a:spcPts val="9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SQLite environment</a:t>
            </a:r>
            <a:endParaRPr lang="en-US" sz="12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F61A4A1-5A23-752D-D67E-9C281AE05BAE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r="26868" b="22800"/>
          <a:stretch>
            <a:fillRect/>
          </a:stretch>
        </p:blipFill>
        <p:spPr>
          <a:xfrm>
            <a:off x="4770501" y="4335330"/>
            <a:ext cx="3644979" cy="289027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60239"/>
            <a:ext cx="946427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Conclusion &amp; Future Improvements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122646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Corben Light" pitchFamily="34" charset="0"/>
                <a:ea typeface="Corben Light" pitchFamily="34" charset="-122"/>
                <a:cs typeface="Corben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2477691"/>
            <a:ext cx="4196358" cy="30480"/>
          </a:xfrm>
          <a:prstGeom prst="rect">
            <a:avLst/>
          </a:prstGeom>
          <a:solidFill>
            <a:srgbClr val="4967E9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2651998"/>
            <a:ext cx="299751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Current Achievements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3142417"/>
            <a:ext cx="4196358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ChronosLocker ensures evidence integrity through cryptographic hashing and provides tamper detection capabilities for forensic investigations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216962" y="2122646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Corben Light" pitchFamily="34" charset="0"/>
                <a:ea typeface="Corben Light" pitchFamily="34" charset="-122"/>
                <a:cs typeface="Corben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6962" y="2477691"/>
            <a:ext cx="4196358" cy="30480"/>
          </a:xfrm>
          <a:prstGeom prst="rect">
            <a:avLst/>
          </a:prstGeom>
          <a:solidFill>
            <a:srgbClr val="4967E9"/>
          </a:solidFill>
          <a:ln/>
        </p:spPr>
      </p:sp>
      <p:sp>
        <p:nvSpPr>
          <p:cNvPr id="9" name="Text 7"/>
          <p:cNvSpPr/>
          <p:nvPr/>
        </p:nvSpPr>
        <p:spPr>
          <a:xfrm>
            <a:off x="5216962" y="2651998"/>
            <a:ext cx="298918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Transparency Benefits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216962" y="3142417"/>
            <a:ext cx="419635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 system improves transparency and auditability in forensic workflows with verifiable chain of custody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640133" y="2122646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Corben Light" pitchFamily="34" charset="0"/>
                <a:ea typeface="Corben Light" pitchFamily="34" charset="-122"/>
                <a:cs typeface="Corben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640133" y="2477691"/>
            <a:ext cx="4196358" cy="30480"/>
          </a:xfrm>
          <a:prstGeom prst="rect">
            <a:avLst/>
          </a:prstGeom>
          <a:solidFill>
            <a:srgbClr val="4967E9"/>
          </a:solidFill>
          <a:ln/>
        </p:spPr>
      </p:sp>
      <p:sp>
        <p:nvSpPr>
          <p:cNvPr id="13" name="Text 11"/>
          <p:cNvSpPr/>
          <p:nvPr/>
        </p:nvSpPr>
        <p:spPr>
          <a:xfrm>
            <a:off x="9640133" y="265199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Distributed Storage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640133" y="3142417"/>
            <a:ext cx="419635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Future version will support replication across multiple nodes for redundancy and high availability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93790" y="5353764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Corben Light" pitchFamily="34" charset="0"/>
                <a:ea typeface="Corben Light" pitchFamily="34" charset="-122"/>
                <a:cs typeface="Corben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93790" y="5708809"/>
            <a:ext cx="6407944" cy="30480"/>
          </a:xfrm>
          <a:prstGeom prst="rect">
            <a:avLst/>
          </a:prstGeom>
          <a:solidFill>
            <a:srgbClr val="4967E9"/>
          </a:solidFill>
          <a:ln/>
        </p:spPr>
      </p:sp>
      <p:sp>
        <p:nvSpPr>
          <p:cNvPr id="17" name="Text 15"/>
          <p:cNvSpPr/>
          <p:nvPr/>
        </p:nvSpPr>
        <p:spPr>
          <a:xfrm>
            <a:off x="793790" y="5883116"/>
            <a:ext cx="306871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Blockchain Integration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93790" y="6373535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Proposed implementation using blockchain for immutable evidence logging and timestamp verification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7428548" y="5353764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Corben Light" pitchFamily="34" charset="0"/>
                <a:ea typeface="Corben Light" pitchFamily="34" charset="-122"/>
                <a:cs typeface="Corben Light" pitchFamily="34" charset="-120"/>
              </a:rPr>
              <a:t>05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7428548" y="5708809"/>
            <a:ext cx="6407944" cy="30480"/>
          </a:xfrm>
          <a:prstGeom prst="rect">
            <a:avLst/>
          </a:prstGeom>
          <a:solidFill>
            <a:srgbClr val="4967E9"/>
          </a:solidFill>
          <a:ln/>
        </p:spPr>
      </p:sp>
      <p:sp>
        <p:nvSpPr>
          <p:cNvPr id="21" name="Text 19"/>
          <p:cNvSpPr/>
          <p:nvPr/>
        </p:nvSpPr>
        <p:spPr>
          <a:xfrm>
            <a:off x="7428548" y="588311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Enhanced Security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28548" y="6373535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Planned addition of multi-factor authentication and hardware security modules for key management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597</Words>
  <Application>Microsoft Office PowerPoint</Application>
  <PresentationFormat>Custom</PresentationFormat>
  <Paragraphs>107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Clear Sans Bold</vt:lpstr>
      <vt:lpstr>Arial</vt:lpstr>
      <vt:lpstr>Nobile</vt:lpstr>
      <vt:lpstr>Consolas</vt:lpstr>
      <vt:lpstr>Corben Light</vt:lpstr>
      <vt:lpstr>Corben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jayasaivenkatesh karnasula</dc:creator>
  <cp:lastModifiedBy>jayasaivenkatesh karnasula</cp:lastModifiedBy>
  <cp:revision>5</cp:revision>
  <dcterms:created xsi:type="dcterms:W3CDTF">2026-03-10T12:16:52Z</dcterms:created>
  <dcterms:modified xsi:type="dcterms:W3CDTF">2026-03-10T18:33:38Z</dcterms:modified>
</cp:coreProperties>
</file>